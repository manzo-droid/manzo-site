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2A3D66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108960" cy="3108960"/>
          </a:xfrm>
          <a:prstGeom prst="ellipse">
            <a:avLst/>
          </a:prstGeom>
          <a:solidFill>
            <a:srgbClr val="2A3D6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591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실전 세션 복기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 함께 기능을 만드는 법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0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'만조' 웹사이트에 </a:t>
            </a:r>
            <a:pPr indent="0" marL="0">
              <a:buNone/>
            </a:pPr>
            <a:r>
              <a:rPr lang="en-US" sz="1700" b="1" dirty="0">
                <a:solidFill>
                  <a:srgbClr val="B591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PWA</a:t>
            </a:r>
            <a:pPr indent="0" marL="0">
              <a:buNone/>
            </a:pPr>
            <a:r>
              <a:rPr lang="en-US" sz="1700" dirty="0">
                <a:solidFill>
                  <a:srgbClr val="CFE0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buNone/>
            </a:pPr>
            <a:r>
              <a:rPr lang="en-US" sz="1700" b="1" dirty="0">
                <a:solidFill>
                  <a:srgbClr val="B591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 알림</a:t>
            </a:r>
            <a:pPr indent="0" marL="0">
              <a:buNone/>
            </a:pPr>
            <a:r>
              <a:rPr lang="en-US" sz="1700" dirty="0">
                <a:solidFill>
                  <a:srgbClr val="CFE0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붙이며 정리한,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0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다음에도 그대로 쓸 수 있는 7단계 작업 패턴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434840"/>
            <a:ext cx="566928" cy="566928"/>
          </a:xfrm>
          <a:prstGeom prst="ellipse">
            <a:avLst/>
          </a:prstGeom>
          <a:solidFill>
            <a:srgbClr val="B5914C"/>
          </a:solidFill>
          <a:ln/>
          <a:effectLst>
            <a:outerShdw sx="100000" sy="100000" kx="0" ky="0" algn="bl" rotWithShape="0" blurRad="76200" dist="25400" dir="5400000">
              <a:srgbClr val="1C1C2E">
                <a:alpha val="25000"/>
              </a:srgbClr>
            </a:outerShdw>
          </a:effectLst>
        </p:spPr>
      </p:sp>
      <p:pic>
        <p:nvPicPr>
          <p:cNvPr id="9" name="Image 0" descr="C:\Users\hahaa\AppData\Local\Temp\claude\E--AI----------2-\1c94b13d-a378-4393-a81d-5d01e1f3bae7\scratchpad\ppt\icons\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519" y="4562399"/>
            <a:ext cx="311810" cy="31181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5056632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0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527048" y="4471416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5914C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2029968" y="4434840"/>
            <a:ext cx="566928" cy="566928"/>
          </a:xfrm>
          <a:prstGeom prst="ellipse">
            <a:avLst/>
          </a:prstGeom>
          <a:solidFill>
            <a:srgbClr val="B5914C"/>
          </a:solidFill>
          <a:ln/>
          <a:effectLst>
            <a:outerShdw sx="100000" sy="100000" kx="0" ky="0" algn="bl" rotWithShape="0" blurRad="76200" dist="25400" dir="5400000">
              <a:srgbClr val="1C1C2E">
                <a:alpha val="25000"/>
              </a:srgbClr>
            </a:outerShdw>
          </a:effectLst>
        </p:spPr>
      </p:sp>
      <p:pic>
        <p:nvPicPr>
          <p:cNvPr id="13" name="Image 1" descr="C:\Users\hahaa\AppData\Local\Temp\claude\E--AI----------2-\1c94b13d-a378-4393-a81d-5d01e1f3bae7\scratchpad\ppt\icons\bui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527" y="4562399"/>
            <a:ext cx="311810" cy="31181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55648" y="5056632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0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구현·검증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2734056" y="4471416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5914C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3236976" y="4434840"/>
            <a:ext cx="566928" cy="566928"/>
          </a:xfrm>
          <a:prstGeom prst="ellipse">
            <a:avLst/>
          </a:prstGeom>
          <a:solidFill>
            <a:srgbClr val="B5914C"/>
          </a:solidFill>
          <a:ln/>
          <a:effectLst>
            <a:outerShdw sx="100000" sy="100000" kx="0" ky="0" algn="bl" rotWithShape="0" blurRad="76200" dist="25400" dir="5400000">
              <a:srgbClr val="1C1C2E">
                <a:alpha val="25000"/>
              </a:srgbClr>
            </a:outerShdw>
          </a:effectLst>
        </p:spPr>
      </p:sp>
      <p:pic>
        <p:nvPicPr>
          <p:cNvPr id="17" name="Image 2" descr="C:\Users\hahaa\AppData\Local\Temp\claude\E--AI----------2-\1c94b13d-a378-4393-a81d-5d01e1f3bae7\scratchpad\ppt\icons\deplo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535" y="4562399"/>
            <a:ext cx="311810" cy="31181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962656" y="5056632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0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배포·개선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세션 기록 기반  · 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세션에서 무엇을 만들었나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웹사이트였던 '만조'에, 앱처럼 설치되는 기능과 회원가입 알림 시스템을 새로 붙였다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74920" cy="1691640"/>
          </a:xfrm>
          <a:prstGeom prst="roundRect">
            <a:avLst>
              <a:gd name="adj" fmla="val 6486"/>
            </a:avLst>
          </a:prstGeom>
          <a:solidFill>
            <a:srgbClr val="EBF0F9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1984248"/>
            <a:ext cx="658368" cy="658368"/>
          </a:xfrm>
          <a:prstGeom prst="ellipse">
            <a:avLst/>
          </a:prstGeom>
          <a:solidFill>
            <a:srgbClr val="1C2B4A"/>
          </a:solidFill>
          <a:ln/>
          <a:effectLst>
            <a:outerShdw sx="100000" sy="100000" kx="0" ky="0" algn="bl" rotWithShape="0" blurRad="76200" dist="25400" dir="5400000">
              <a:srgbClr val="1C1C2E">
                <a:alpha val="25000"/>
              </a:srgbClr>
            </a:outerShdw>
          </a:effectLst>
        </p:spPr>
      </p:sp>
      <p:pic>
        <p:nvPicPr>
          <p:cNvPr id="6" name="Image 0" descr="C:\Users\hahaa\AppData\Local\Temp\claude\E--AI----------2-\1c94b13d-a378-4393-a81d-5d01e1f3bae7\scratchpad\ppt\icons\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128" y="2142256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9842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설치형 웹앱 (PWA)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83080" y="237744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5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화면에 앱처럼 설치되도록 manifest·서비스워커·아이콘을 추가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080760" y="1691640"/>
            <a:ext cx="5074920" cy="1691640"/>
          </a:xfrm>
          <a:prstGeom prst="roundRect">
            <a:avLst>
              <a:gd name="adj" fmla="val 6486"/>
            </a:avLst>
          </a:prstGeom>
          <a:solidFill>
            <a:srgbClr val="EBF0F9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0" y="1984248"/>
            <a:ext cx="658368" cy="658368"/>
          </a:xfrm>
          <a:prstGeom prst="ellipse">
            <a:avLst/>
          </a:prstGeom>
          <a:solidFill>
            <a:srgbClr val="1C2B4A"/>
          </a:solidFill>
          <a:ln/>
          <a:effectLst>
            <a:outerShdw sx="100000" sy="100000" kx="0" ky="0" algn="bl" rotWithShape="0" blurRad="76200" dist="25400" dir="5400000">
              <a:srgbClr val="1C1C2E">
                <a:alpha val="25000"/>
              </a:srgbClr>
            </a:outerShdw>
          </a:effectLst>
        </p:spPr>
      </p:sp>
      <p:pic>
        <p:nvPicPr>
          <p:cNvPr id="11" name="Image 1" descr="C:\Users\hahaa\AppData\Local\Temp\claude\E--AI----------2-\1c94b13d-a378-4393-a81d-5d01e1f3bae7\scratchpad\ppt\icons\b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808" y="2142256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9842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 알림 시스템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223760" y="237744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5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회원가입 기능을 새로 만들고, 가입 시 알림이 오도록 연결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548640" cy="548640"/>
          </a:xfrm>
          <a:prstGeom prst="ellipse">
            <a:avLst/>
          </a:prstGeom>
          <a:solidFill>
            <a:srgbClr val="B5914C"/>
          </a:solidFill>
          <a:ln/>
          <a:effectLst>
            <a:outerShdw sx="100000" sy="100000" kx="0" ky="0" algn="bl" rotWithShape="0" blurRad="76200" dist="25400" dir="5400000">
              <a:srgbClr val="1C1C2E">
                <a:alpha val="25000"/>
              </a:srgbClr>
            </a:outerShdw>
          </a:effectLst>
        </p:spPr>
      </p:sp>
      <p:pic>
        <p:nvPicPr>
          <p:cNvPr id="15" name="Image 2" descr="C:\Users\hahaa\AppData\Local\Temp\claude\E--AI----------2-\1c94b13d-a378-4393-a81d-5d01e1f3bae7\scratchpad\ppt\icons\ch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4101084"/>
            <a:ext cx="301752" cy="30175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386791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20+</a:t>
            </a:r>
            <a:endParaRPr lang="en-US" sz="3400" dirty="0"/>
          </a:p>
        </p:txBody>
      </p:sp>
      <p:sp>
        <p:nvSpPr>
          <p:cNvPr id="17" name="Text 12"/>
          <p:cNvSpPr/>
          <p:nvPr/>
        </p:nvSpPr>
        <p:spPr>
          <a:xfrm>
            <a:off x="640080" y="4599432"/>
            <a:ext cx="3361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 요청·수정 사항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276344" y="3977640"/>
            <a:ext cx="548640" cy="548640"/>
          </a:xfrm>
          <a:prstGeom prst="ellipse">
            <a:avLst/>
          </a:prstGeom>
          <a:solidFill>
            <a:srgbClr val="B5914C"/>
          </a:solidFill>
          <a:ln/>
          <a:effectLst>
            <a:outerShdw sx="100000" sy="100000" kx="0" ky="0" algn="bl" rotWithShape="0" blurRad="76200" dist="25400" dir="5400000">
              <a:srgbClr val="1C1C2E">
                <a:alpha val="25000"/>
              </a:srgbClr>
            </a:outerShdw>
          </a:effectLst>
        </p:spPr>
      </p:sp>
      <p:pic>
        <p:nvPicPr>
          <p:cNvPr id="19" name="Image 3" descr="C:\Users\hahaa\AppData\Local\Temp\claude\E--AI----------2-\1c94b13d-a378-4393-a81d-5d01e1f3bae7\scratchpad\ppt\icons\commi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9788" y="4101084"/>
            <a:ext cx="301752" cy="30175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962144" y="386791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3400" dirty="0"/>
          </a:p>
        </p:txBody>
      </p:sp>
      <p:sp>
        <p:nvSpPr>
          <p:cNvPr id="21" name="Text 15"/>
          <p:cNvSpPr/>
          <p:nvPr/>
        </p:nvSpPr>
        <p:spPr>
          <a:xfrm>
            <a:off x="4276344" y="4599432"/>
            <a:ext cx="3361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건의 배포용 커밋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7912608" y="3977640"/>
            <a:ext cx="548640" cy="548640"/>
          </a:xfrm>
          <a:prstGeom prst="ellipse">
            <a:avLst/>
          </a:prstGeom>
          <a:solidFill>
            <a:srgbClr val="B5914C"/>
          </a:solidFill>
          <a:ln/>
          <a:effectLst>
            <a:outerShdw sx="100000" sy="100000" kx="0" ky="0" algn="bl" rotWithShape="0" blurRad="76200" dist="25400" dir="5400000">
              <a:srgbClr val="1C1C2E">
                <a:alpha val="25000"/>
              </a:srgbClr>
            </a:outerShdw>
          </a:effectLst>
        </p:spPr>
      </p:sp>
      <p:pic>
        <p:nvPicPr>
          <p:cNvPr id="23" name="Image 4" descr="C:\Users\hahaa\AppData\Local\Temp\claude\E--AI----------2-\1c94b13d-a378-4393-a81d-5d01e1f3bae7\scratchpad\ppt\icons\bu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6052" y="4101084"/>
            <a:ext cx="301752" cy="30175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598408" y="386791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3400" dirty="0"/>
          </a:p>
        </p:txBody>
      </p:sp>
      <p:sp>
        <p:nvSpPr>
          <p:cNvPr id="25" name="Text 18"/>
          <p:cNvSpPr/>
          <p:nvPr/>
        </p:nvSpPr>
        <p:spPr>
          <a:xfrm>
            <a:off x="7912608" y="4599432"/>
            <a:ext cx="3361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건, 검증 중 실전 발견·수정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640080" y="5623560"/>
            <a:ext cx="10908792" cy="0"/>
          </a:xfrm>
          <a:prstGeom prst="line">
            <a:avLst/>
          </a:prstGeom>
          <a:noFill/>
          <a:ln w="12700">
            <a:solidFill>
              <a:srgbClr val="E5E0D8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640080" y="580644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6F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과정을 되짚어 보면, 다음에도 그대로 쓸 수 있는 7단계 패턴이 보인다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 가능한 7단계 작업 패턴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 이 흐름을 하나씩 뜯어보며, 이번 세션에서 실제로 있었던 일과 함께 정리한다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1051560" cy="1051560"/>
          </a:xfrm>
          <a:prstGeom prst="ellipse">
            <a:avLst/>
          </a:prstGeom>
          <a:solidFill>
            <a:srgbClr val="1C2B4A"/>
          </a:solidFill>
          <a:ln/>
          <a:effectLst>
            <a:outerShdw sx="100000" sy="100000" kx="0" ky="0" algn="bl" rotWithShape="0" blurRad="76200" dist="25400" dir="5400000">
              <a:srgbClr val="1C1C2E">
                <a:alpha val="25000"/>
              </a:srgbClr>
            </a:outerShdw>
          </a:effectLst>
        </p:spPr>
      </p:sp>
      <p:pic>
        <p:nvPicPr>
          <p:cNvPr id="5" name="Image 0" descr="C:\Users\hahaa\AppData\Local\Temp\claude\E--AI----------2-\1c94b13d-a378-4393-a81d-5d01e1f3bae7\scratchpad\ppt\icons\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2914650"/>
            <a:ext cx="525780" cy="5257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381304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20040" y="412394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A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Explore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691640" y="2651760"/>
            <a:ext cx="59131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C9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282952" y="2651760"/>
            <a:ext cx="1051560" cy="1051560"/>
          </a:xfrm>
          <a:prstGeom prst="ellipse">
            <a:avLst/>
          </a:prstGeom>
          <a:solidFill>
            <a:srgbClr val="4A6FA5"/>
          </a:solidFill>
          <a:ln/>
          <a:effectLst>
            <a:outerShdw sx="100000" sy="100000" kx="0" ky="0" algn="bl" rotWithShape="0" blurRad="76200" dist="25400" dir="5400000">
              <a:srgbClr val="1C1C2E">
                <a:alpha val="25000"/>
              </a:srgbClr>
            </a:outerShdw>
          </a:effectLst>
        </p:spPr>
      </p:sp>
      <p:pic>
        <p:nvPicPr>
          <p:cNvPr id="10" name="Image 1" descr="C:\Users\hahaa\AppData\Local\Temp\claude\E--AI----------2-\1c94b13d-a378-4393-a81d-5d01e1f3bae7\scratchpad\ppt\icons\pl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842" y="2914650"/>
            <a:ext cx="525780" cy="5257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62912" y="381304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962912" y="412394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A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3334512" y="2651760"/>
            <a:ext cx="59131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C9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3925824" y="2651760"/>
            <a:ext cx="1051560" cy="1051560"/>
          </a:xfrm>
          <a:prstGeom prst="ellipse">
            <a:avLst/>
          </a:prstGeom>
          <a:solidFill>
            <a:srgbClr val="1C2B4A"/>
          </a:solidFill>
          <a:ln/>
          <a:effectLst>
            <a:outerShdw sx="100000" sy="100000" kx="0" ky="0" algn="bl" rotWithShape="0" blurRad="76200" dist="25400" dir="5400000">
              <a:srgbClr val="1C1C2E">
                <a:alpha val="25000"/>
              </a:srgbClr>
            </a:outerShdw>
          </a:effectLst>
        </p:spPr>
      </p:sp>
      <p:pic>
        <p:nvPicPr>
          <p:cNvPr id="15" name="Image 2" descr="C:\Users\hahaa\AppData\Local\Temp\claude\E--AI----------2-\1c94b13d-a378-4393-a81d-5d01e1f3bae7\scratchpad\ppt\icons\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8714" y="2914650"/>
            <a:ext cx="525780" cy="5257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05784" y="381304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605784" y="412394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A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Clarify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4977384" y="2651760"/>
            <a:ext cx="59131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C9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5568696" y="2651760"/>
            <a:ext cx="1051560" cy="1051560"/>
          </a:xfrm>
          <a:prstGeom prst="ellipse">
            <a:avLst/>
          </a:prstGeom>
          <a:solidFill>
            <a:srgbClr val="4A6FA5"/>
          </a:solidFill>
          <a:ln/>
          <a:effectLst>
            <a:outerShdw sx="100000" sy="100000" kx="0" ky="0" algn="bl" rotWithShape="0" blurRad="76200" dist="25400" dir="5400000">
              <a:srgbClr val="1C1C2E">
                <a:alpha val="25000"/>
              </a:srgbClr>
            </a:outerShdw>
          </a:effectLst>
        </p:spPr>
      </p:sp>
      <p:pic>
        <p:nvPicPr>
          <p:cNvPr id="20" name="Image 3" descr="C:\Users\hahaa\AppData\Local\Temp\claude\E--AI----------2-\1c94b13d-a378-4393-a81d-5d01e1f3bae7\scratchpad\ppt\icons\bui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1586" y="2914650"/>
            <a:ext cx="525780" cy="5257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248656" y="381304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248656" y="412394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A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Build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6620256" y="2651760"/>
            <a:ext cx="59131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C9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7211568" y="2651760"/>
            <a:ext cx="1051560" cy="1051560"/>
          </a:xfrm>
          <a:prstGeom prst="ellipse">
            <a:avLst/>
          </a:prstGeom>
          <a:solidFill>
            <a:srgbClr val="1C2B4A"/>
          </a:solidFill>
          <a:ln/>
          <a:effectLst>
            <a:outerShdw sx="100000" sy="100000" kx="0" ky="0" algn="bl" rotWithShape="0" blurRad="76200" dist="25400" dir="5400000">
              <a:srgbClr val="1C1C2E">
                <a:alpha val="25000"/>
              </a:srgbClr>
            </a:outerShdw>
          </a:effectLst>
        </p:spPr>
      </p:sp>
      <p:pic>
        <p:nvPicPr>
          <p:cNvPr id="25" name="Image 4" descr="C:\Users\hahaa\AppData\Local\Temp\claude\E--AI----------2-\1c94b13d-a378-4393-a81d-5d01e1f3bae7\scratchpad\ppt\icons\verif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4458" y="2914650"/>
            <a:ext cx="525780" cy="5257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891528" y="381304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6891528" y="412394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A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Verify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8263128" y="2651760"/>
            <a:ext cx="59131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C9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2"/>
          <p:cNvSpPr/>
          <p:nvPr/>
        </p:nvSpPr>
        <p:spPr>
          <a:xfrm>
            <a:off x="8854440" y="2651760"/>
            <a:ext cx="1051560" cy="1051560"/>
          </a:xfrm>
          <a:prstGeom prst="ellipse">
            <a:avLst/>
          </a:prstGeom>
          <a:solidFill>
            <a:srgbClr val="4A6FA5"/>
          </a:solidFill>
          <a:ln/>
          <a:effectLst>
            <a:outerShdw sx="100000" sy="100000" kx="0" ky="0" algn="bl" rotWithShape="0" blurRad="76200" dist="25400" dir="5400000">
              <a:srgbClr val="1C1C2E">
                <a:alpha val="25000"/>
              </a:srgbClr>
            </a:outerShdw>
          </a:effectLst>
        </p:spPr>
      </p:sp>
      <p:pic>
        <p:nvPicPr>
          <p:cNvPr id="30" name="Image 5" descr="C:\Users\hahaa\AppData\Local\Temp\claude\E--AI----------2-\1c94b13d-a378-4393-a81d-5d01e1f3bae7\scratchpad\ppt\icons\deplo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7330" y="2914650"/>
            <a:ext cx="525780" cy="5257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534400" y="381304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8534400" y="412394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A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Deploy</a:t>
            </a:r>
            <a:endParaRPr lang="en-US" sz="950" dirty="0"/>
          </a:p>
        </p:txBody>
      </p:sp>
      <p:sp>
        <p:nvSpPr>
          <p:cNvPr id="33" name="Text 25"/>
          <p:cNvSpPr/>
          <p:nvPr/>
        </p:nvSpPr>
        <p:spPr>
          <a:xfrm>
            <a:off x="9906000" y="2651760"/>
            <a:ext cx="59131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C9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26"/>
          <p:cNvSpPr/>
          <p:nvPr/>
        </p:nvSpPr>
        <p:spPr>
          <a:xfrm>
            <a:off x="10497312" y="2651760"/>
            <a:ext cx="1051560" cy="1051560"/>
          </a:xfrm>
          <a:prstGeom prst="ellipse">
            <a:avLst/>
          </a:prstGeom>
          <a:solidFill>
            <a:srgbClr val="1C2B4A"/>
          </a:solidFill>
          <a:ln/>
          <a:effectLst>
            <a:outerShdw sx="100000" sy="100000" kx="0" ky="0" algn="bl" rotWithShape="0" blurRad="76200" dist="25400" dir="5400000">
              <a:srgbClr val="1C1C2E">
                <a:alpha val="25000"/>
              </a:srgbClr>
            </a:outerShdw>
          </a:effectLst>
        </p:spPr>
      </p:sp>
      <p:pic>
        <p:nvPicPr>
          <p:cNvPr id="35" name="Image 6" descr="C:\Users\hahaa\AppData\Local\Temp\claude\E--AI----------2-\1c94b13d-a378-4393-a81d-5d01e1f3bae7\scratchpad\ppt\icons\itera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0202" y="2914650"/>
            <a:ext cx="525780" cy="52578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0177272" y="381304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반복개선</a:t>
            </a:r>
            <a:endParaRPr lang="en-US" sz="1300" dirty="0"/>
          </a:p>
        </p:txBody>
      </p:sp>
      <p:sp>
        <p:nvSpPr>
          <p:cNvPr id="37" name="Text 28"/>
          <p:cNvSpPr/>
          <p:nvPr/>
        </p:nvSpPr>
        <p:spPr>
          <a:xfrm>
            <a:off x="10177272" y="412394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A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Iterate</a:t>
            </a:r>
            <a:endParaRPr lang="en-US" sz="950" dirty="0"/>
          </a:p>
        </p:txBody>
      </p:sp>
      <p:sp>
        <p:nvSpPr>
          <p:cNvPr id="38" name="Shape 29"/>
          <p:cNvSpPr/>
          <p:nvPr/>
        </p:nvSpPr>
        <p:spPr>
          <a:xfrm>
            <a:off x="2651760" y="4892040"/>
            <a:ext cx="6858000" cy="777240"/>
          </a:xfrm>
          <a:prstGeom prst="roundRect">
            <a:avLst>
              <a:gd name="adj" fmla="val 11765"/>
            </a:avLst>
          </a:prstGeom>
          <a:solidFill>
            <a:srgbClr val="F5EFE2"/>
          </a:solidFill>
          <a:ln/>
        </p:spPr>
      </p:sp>
      <p:sp>
        <p:nvSpPr>
          <p:cNvPr id="39" name="Text 30"/>
          <p:cNvSpPr/>
          <p:nvPr/>
        </p:nvSpPr>
        <p:spPr>
          <a:xfrm>
            <a:off x="2834640" y="4892040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6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끝나지 않는다 — 실제로는 이 7단계를 여러 번 돌면서 점점 다듬어진다</a:t>
            </a:r>
            <a:endParaRPr lang="en-US" sz="1300" dirty="0"/>
          </a:p>
        </p:txBody>
      </p:sp>
      <p:sp>
        <p:nvSpPr>
          <p:cNvPr id="40" name="Text 31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B5914C"/>
          </a:solidFill>
          <a:ln/>
          <a:effectLst>
            <a:outerShdw sx="100000" sy="100000" kx="0" ky="0" algn="bl" rotWithShape="0" blurRad="76200" dist="25400" dir="5400000">
              <a:srgbClr val="1C1C2E">
                <a:alpha val="25000"/>
              </a:srgbClr>
            </a:outerShdw>
          </a:effectLst>
        </p:spPr>
      </p:sp>
      <p:pic>
        <p:nvPicPr>
          <p:cNvPr id="3" name="Image 0" descr="C:\Users\hahaa\AppData\Local\Temp\claude\E--AI----------2-\1c94b13d-a378-4393-a81d-5d01e1f3bae7\scratchpad\ppt\icons\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18" y="68945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591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600200" y="78638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  (Explore)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사례에서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6309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CLAUDE.md를 쓰기 전에 index.html·api 폴더·데이터 흐름부터 먼저 읽음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"회원가입" 버튼이 실제로는 외부 사이트로 연결된다는 사실을 발견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style.css·data.js·chart_data.json이 실제로는 어디서도 안 쓰이는 파일임을 grep으로 확인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269480" y="1691640"/>
            <a:ext cx="4279392" cy="3429000"/>
          </a:xfrm>
          <a:prstGeom prst="roundRect">
            <a:avLst>
              <a:gd name="adj" fmla="val 3200"/>
            </a:avLst>
          </a:prstGeom>
          <a:solidFill>
            <a:srgbClr val="1C2B4A"/>
          </a:solidFill>
          <a:ln/>
          <a:effectLst>
            <a:outerShdw sx="100000" sy="100000" kx="0" ky="0" algn="bl" rotWithShape="0" blurRad="101600" dist="38100" dir="5400000">
              <a:srgbClr val="1C1C2E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591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교훈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589520" y="242316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짐작하지 말고, 코드와 화면에서 사실을 먼저 확인한 뒤 시작한다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5088636" y="6355080"/>
            <a:ext cx="146304" cy="146304"/>
          </a:xfrm>
          <a:prstGeom prst="ellipse">
            <a:avLst/>
          </a:prstGeom>
          <a:solidFill>
            <a:srgbClr val="B5914C"/>
          </a:solidFill>
          <a:ln/>
        </p:spPr>
      </p:sp>
      <p:sp>
        <p:nvSpPr>
          <p:cNvPr id="12" name="Shape 9"/>
          <p:cNvSpPr/>
          <p:nvPr/>
        </p:nvSpPr>
        <p:spPr>
          <a:xfrm>
            <a:off x="5399532" y="6355080"/>
            <a:ext cx="146304" cy="146304"/>
          </a:xfrm>
          <a:prstGeom prst="ellipse">
            <a:avLst/>
          </a:prstGeom>
          <a:solidFill>
            <a:srgbClr val="D8D8E2"/>
          </a:solidFill>
          <a:ln/>
        </p:spPr>
      </p:sp>
      <p:sp>
        <p:nvSpPr>
          <p:cNvPr id="13" name="Shape 10"/>
          <p:cNvSpPr/>
          <p:nvPr/>
        </p:nvSpPr>
        <p:spPr>
          <a:xfrm>
            <a:off x="5710428" y="6355080"/>
            <a:ext cx="146304" cy="146304"/>
          </a:xfrm>
          <a:prstGeom prst="ellipse">
            <a:avLst/>
          </a:prstGeom>
          <a:solidFill>
            <a:srgbClr val="D8D8E2"/>
          </a:solidFill>
          <a:ln/>
        </p:spPr>
      </p:sp>
      <p:sp>
        <p:nvSpPr>
          <p:cNvPr id="14" name="Shape 11"/>
          <p:cNvSpPr/>
          <p:nvPr/>
        </p:nvSpPr>
        <p:spPr>
          <a:xfrm>
            <a:off x="6021324" y="6355080"/>
            <a:ext cx="146304" cy="146304"/>
          </a:xfrm>
          <a:prstGeom prst="ellipse">
            <a:avLst/>
          </a:prstGeom>
          <a:solidFill>
            <a:srgbClr val="D8D8E2"/>
          </a:solidFill>
          <a:ln/>
        </p:spPr>
      </p:sp>
      <p:sp>
        <p:nvSpPr>
          <p:cNvPr id="15" name="Shape 12"/>
          <p:cNvSpPr/>
          <p:nvPr/>
        </p:nvSpPr>
        <p:spPr>
          <a:xfrm>
            <a:off x="6332220" y="6355080"/>
            <a:ext cx="146304" cy="146304"/>
          </a:xfrm>
          <a:prstGeom prst="ellipse">
            <a:avLst/>
          </a:prstGeom>
          <a:solidFill>
            <a:srgbClr val="D8D8E2"/>
          </a:solidFill>
          <a:ln/>
        </p:spPr>
      </p:sp>
      <p:sp>
        <p:nvSpPr>
          <p:cNvPr id="16" name="Shape 13"/>
          <p:cNvSpPr/>
          <p:nvPr/>
        </p:nvSpPr>
        <p:spPr>
          <a:xfrm>
            <a:off x="6643116" y="6355080"/>
            <a:ext cx="146304" cy="146304"/>
          </a:xfrm>
          <a:prstGeom prst="ellipse">
            <a:avLst/>
          </a:prstGeom>
          <a:solidFill>
            <a:srgbClr val="D8D8E2"/>
          </a:solidFill>
          <a:ln/>
        </p:spPr>
      </p:sp>
      <p:sp>
        <p:nvSpPr>
          <p:cNvPr id="17" name="Shape 14"/>
          <p:cNvSpPr/>
          <p:nvPr/>
        </p:nvSpPr>
        <p:spPr>
          <a:xfrm>
            <a:off x="6954012" y="6355080"/>
            <a:ext cx="146304" cy="146304"/>
          </a:xfrm>
          <a:prstGeom prst="ellipse">
            <a:avLst/>
          </a:prstGeom>
          <a:solidFill>
            <a:srgbClr val="D8D8E2"/>
          </a:solidFill>
          <a:ln/>
        </p:spPr>
      </p:sp>
      <p:sp>
        <p:nvSpPr>
          <p:cNvPr id="18" name="Text 15"/>
          <p:cNvSpPr/>
          <p:nvPr/>
        </p:nvSpPr>
        <p:spPr>
          <a:xfrm>
            <a:off x="1554480" y="6473952"/>
            <a:ext cx="9079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   ·   계획   ·   확인   ·   구현   ·   검증   ·   배포   ·   반복개선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B5914C"/>
          </a:solidFill>
          <a:ln/>
          <a:effectLst>
            <a:outerShdw sx="100000" sy="100000" kx="0" ky="0" algn="bl" rotWithShape="0" blurRad="76200" dist="25400" dir="5400000">
              <a:srgbClr val="1C1C2E">
                <a:alpha val="25000"/>
              </a:srgbClr>
            </a:outerShdw>
          </a:effectLst>
        </p:spPr>
      </p:sp>
      <p:pic>
        <p:nvPicPr>
          <p:cNvPr id="3" name="Image 0" descr="C:\Users\hahaa\AppData\Local\Temp\claude\E--AI----------2-\1c94b13d-a378-4393-a81d-5d01e1f3bae7\scratchpad\ppt\icons\p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18" y="68945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591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600200" y="78638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 (Plan)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사례에서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6309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회원가입+푸시알림처럼 DB·외부서비스·여러 파일이 얽힌 요청은 Plan Mode로 전환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테이블 설계, VAPID 키, 서버 함수, UI 변경을 문서 하나로 정리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승인을 받은 뒤에만 실제 코드 작성 시작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269480" y="1691640"/>
            <a:ext cx="4279392" cy="3429000"/>
          </a:xfrm>
          <a:prstGeom prst="roundRect">
            <a:avLst>
              <a:gd name="adj" fmla="val 3200"/>
            </a:avLst>
          </a:prstGeom>
          <a:solidFill>
            <a:srgbClr val="1C2B4A"/>
          </a:solidFill>
          <a:ln/>
          <a:effectLst>
            <a:outerShdw sx="100000" sy="100000" kx="0" ky="0" algn="bl" rotWithShape="0" blurRad="101600" dist="38100" dir="5400000">
              <a:srgbClr val="1C1C2E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591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교훈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589520" y="242316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위험하거나 여러 파일에 걸친 작업은, 코드를 짜기 전에 계획부터 합의한다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5088636" y="6355080"/>
            <a:ext cx="146304" cy="146304"/>
          </a:xfrm>
          <a:prstGeom prst="ellipse">
            <a:avLst/>
          </a:prstGeom>
          <a:solidFill>
            <a:srgbClr val="D8D8E2"/>
          </a:solidFill>
          <a:ln/>
        </p:spPr>
      </p:sp>
      <p:sp>
        <p:nvSpPr>
          <p:cNvPr id="12" name="Shape 9"/>
          <p:cNvSpPr/>
          <p:nvPr/>
        </p:nvSpPr>
        <p:spPr>
          <a:xfrm>
            <a:off x="5399532" y="6355080"/>
            <a:ext cx="146304" cy="146304"/>
          </a:xfrm>
          <a:prstGeom prst="ellipse">
            <a:avLst/>
          </a:prstGeom>
          <a:solidFill>
            <a:srgbClr val="B5914C"/>
          </a:solidFill>
          <a:ln/>
        </p:spPr>
      </p:sp>
      <p:sp>
        <p:nvSpPr>
          <p:cNvPr id="13" name="Shape 10"/>
          <p:cNvSpPr/>
          <p:nvPr/>
        </p:nvSpPr>
        <p:spPr>
          <a:xfrm>
            <a:off x="5710428" y="6355080"/>
            <a:ext cx="146304" cy="146304"/>
          </a:xfrm>
          <a:prstGeom prst="ellipse">
            <a:avLst/>
          </a:prstGeom>
          <a:solidFill>
            <a:srgbClr val="D8D8E2"/>
          </a:solidFill>
          <a:ln/>
        </p:spPr>
      </p:sp>
      <p:sp>
        <p:nvSpPr>
          <p:cNvPr id="14" name="Shape 11"/>
          <p:cNvSpPr/>
          <p:nvPr/>
        </p:nvSpPr>
        <p:spPr>
          <a:xfrm>
            <a:off x="6021324" y="6355080"/>
            <a:ext cx="146304" cy="146304"/>
          </a:xfrm>
          <a:prstGeom prst="ellipse">
            <a:avLst/>
          </a:prstGeom>
          <a:solidFill>
            <a:srgbClr val="D8D8E2"/>
          </a:solidFill>
          <a:ln/>
        </p:spPr>
      </p:sp>
      <p:sp>
        <p:nvSpPr>
          <p:cNvPr id="15" name="Shape 12"/>
          <p:cNvSpPr/>
          <p:nvPr/>
        </p:nvSpPr>
        <p:spPr>
          <a:xfrm>
            <a:off x="6332220" y="6355080"/>
            <a:ext cx="146304" cy="146304"/>
          </a:xfrm>
          <a:prstGeom prst="ellipse">
            <a:avLst/>
          </a:prstGeom>
          <a:solidFill>
            <a:srgbClr val="D8D8E2"/>
          </a:solidFill>
          <a:ln/>
        </p:spPr>
      </p:sp>
      <p:sp>
        <p:nvSpPr>
          <p:cNvPr id="16" name="Shape 13"/>
          <p:cNvSpPr/>
          <p:nvPr/>
        </p:nvSpPr>
        <p:spPr>
          <a:xfrm>
            <a:off x="6643116" y="6355080"/>
            <a:ext cx="146304" cy="146304"/>
          </a:xfrm>
          <a:prstGeom prst="ellipse">
            <a:avLst/>
          </a:prstGeom>
          <a:solidFill>
            <a:srgbClr val="D8D8E2"/>
          </a:solidFill>
          <a:ln/>
        </p:spPr>
      </p:sp>
      <p:sp>
        <p:nvSpPr>
          <p:cNvPr id="17" name="Shape 14"/>
          <p:cNvSpPr/>
          <p:nvPr/>
        </p:nvSpPr>
        <p:spPr>
          <a:xfrm>
            <a:off x="6954012" y="6355080"/>
            <a:ext cx="146304" cy="146304"/>
          </a:xfrm>
          <a:prstGeom prst="ellipse">
            <a:avLst/>
          </a:prstGeom>
          <a:solidFill>
            <a:srgbClr val="D8D8E2"/>
          </a:solidFill>
          <a:ln/>
        </p:spPr>
      </p:sp>
      <p:sp>
        <p:nvSpPr>
          <p:cNvPr id="18" name="Text 15"/>
          <p:cNvSpPr/>
          <p:nvPr/>
        </p:nvSpPr>
        <p:spPr>
          <a:xfrm>
            <a:off x="1554480" y="6473952"/>
            <a:ext cx="9079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   ·   계획   ·   확인   ·   구현   ·   검증   ·   배포   ·   반복개선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B5914C"/>
          </a:solidFill>
          <a:ln/>
          <a:effectLst>
            <a:outerShdw sx="100000" sy="100000" kx="0" ky="0" algn="bl" rotWithShape="0" blurRad="76200" dist="25400" dir="5400000">
              <a:srgbClr val="1C1C2E">
                <a:alpha val="25000"/>
              </a:srgbClr>
            </a:outerShdw>
          </a:effectLst>
        </p:spPr>
      </p:sp>
      <p:pic>
        <p:nvPicPr>
          <p:cNvPr id="3" name="Image 0" descr="C:\Users\hahaa\AppData\Local\Temp\claude\E--AI----------2-\1c94b13d-a378-4393-a81d-5d01e1f3bae7\scratchpad\ppt\icons\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18" y="68945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591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600200" y="78638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(Clarify)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사례에서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6309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"회원가입이 이 사이트 안에서 일어나야 하나요?" 제품 결정은 직접 질문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"알림, 본인이 받아야 하나요 운영자가 받아야 하나요?" 선택지를 좁혀서 질문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알림이 잘리는 문제도 "문구를 줄일지, 클릭 시 전체보기로 할지" 옵션을 먼저 제시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269480" y="1691640"/>
            <a:ext cx="4279392" cy="3429000"/>
          </a:xfrm>
          <a:prstGeom prst="roundRect">
            <a:avLst>
              <a:gd name="adj" fmla="val 3200"/>
            </a:avLst>
          </a:prstGeom>
          <a:solidFill>
            <a:srgbClr val="1C2B4A"/>
          </a:solidFill>
          <a:ln/>
          <a:effectLst>
            <a:outerShdw sx="100000" sy="100000" kx="0" ky="0" algn="bl" rotWithShape="0" blurRad="101600" dist="38100" dir="5400000">
              <a:srgbClr val="1C1C2E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591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교훈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589520" y="242316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짐작하면 안 되는 결정은 선택지를 좁혀서 사용자에게 직접 묻는다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5088636" y="6355080"/>
            <a:ext cx="146304" cy="146304"/>
          </a:xfrm>
          <a:prstGeom prst="ellipse">
            <a:avLst/>
          </a:prstGeom>
          <a:solidFill>
            <a:srgbClr val="D8D8E2"/>
          </a:solidFill>
          <a:ln/>
        </p:spPr>
      </p:sp>
      <p:sp>
        <p:nvSpPr>
          <p:cNvPr id="12" name="Shape 9"/>
          <p:cNvSpPr/>
          <p:nvPr/>
        </p:nvSpPr>
        <p:spPr>
          <a:xfrm>
            <a:off x="5399532" y="6355080"/>
            <a:ext cx="146304" cy="146304"/>
          </a:xfrm>
          <a:prstGeom prst="ellipse">
            <a:avLst/>
          </a:prstGeom>
          <a:solidFill>
            <a:srgbClr val="D8D8E2"/>
          </a:solidFill>
          <a:ln/>
        </p:spPr>
      </p:sp>
      <p:sp>
        <p:nvSpPr>
          <p:cNvPr id="13" name="Shape 10"/>
          <p:cNvSpPr/>
          <p:nvPr/>
        </p:nvSpPr>
        <p:spPr>
          <a:xfrm>
            <a:off x="5710428" y="6355080"/>
            <a:ext cx="146304" cy="146304"/>
          </a:xfrm>
          <a:prstGeom prst="ellipse">
            <a:avLst/>
          </a:prstGeom>
          <a:solidFill>
            <a:srgbClr val="B5914C"/>
          </a:solidFill>
          <a:ln/>
        </p:spPr>
      </p:sp>
      <p:sp>
        <p:nvSpPr>
          <p:cNvPr id="14" name="Shape 11"/>
          <p:cNvSpPr/>
          <p:nvPr/>
        </p:nvSpPr>
        <p:spPr>
          <a:xfrm>
            <a:off x="6021324" y="6355080"/>
            <a:ext cx="146304" cy="146304"/>
          </a:xfrm>
          <a:prstGeom prst="ellipse">
            <a:avLst/>
          </a:prstGeom>
          <a:solidFill>
            <a:srgbClr val="D8D8E2"/>
          </a:solidFill>
          <a:ln/>
        </p:spPr>
      </p:sp>
      <p:sp>
        <p:nvSpPr>
          <p:cNvPr id="15" name="Shape 12"/>
          <p:cNvSpPr/>
          <p:nvPr/>
        </p:nvSpPr>
        <p:spPr>
          <a:xfrm>
            <a:off x="6332220" y="6355080"/>
            <a:ext cx="146304" cy="146304"/>
          </a:xfrm>
          <a:prstGeom prst="ellipse">
            <a:avLst/>
          </a:prstGeom>
          <a:solidFill>
            <a:srgbClr val="D8D8E2"/>
          </a:solidFill>
          <a:ln/>
        </p:spPr>
      </p:sp>
      <p:sp>
        <p:nvSpPr>
          <p:cNvPr id="16" name="Shape 13"/>
          <p:cNvSpPr/>
          <p:nvPr/>
        </p:nvSpPr>
        <p:spPr>
          <a:xfrm>
            <a:off x="6643116" y="6355080"/>
            <a:ext cx="146304" cy="146304"/>
          </a:xfrm>
          <a:prstGeom prst="ellipse">
            <a:avLst/>
          </a:prstGeom>
          <a:solidFill>
            <a:srgbClr val="D8D8E2"/>
          </a:solidFill>
          <a:ln/>
        </p:spPr>
      </p:sp>
      <p:sp>
        <p:nvSpPr>
          <p:cNvPr id="17" name="Shape 14"/>
          <p:cNvSpPr/>
          <p:nvPr/>
        </p:nvSpPr>
        <p:spPr>
          <a:xfrm>
            <a:off x="6954012" y="6355080"/>
            <a:ext cx="146304" cy="146304"/>
          </a:xfrm>
          <a:prstGeom prst="ellipse">
            <a:avLst/>
          </a:prstGeom>
          <a:solidFill>
            <a:srgbClr val="D8D8E2"/>
          </a:solidFill>
          <a:ln/>
        </p:spPr>
      </p:sp>
      <p:sp>
        <p:nvSpPr>
          <p:cNvPr id="18" name="Text 15"/>
          <p:cNvSpPr/>
          <p:nvPr/>
        </p:nvSpPr>
        <p:spPr>
          <a:xfrm>
            <a:off x="1554480" y="6473952"/>
            <a:ext cx="9079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   ·   계획   ·   확인   ·   구현   ·   검증   ·   배포   ·   반복개선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B5914C"/>
          </a:solidFill>
          <a:ln/>
          <a:effectLst>
            <a:outerShdw sx="100000" sy="100000" kx="0" ky="0" algn="bl" rotWithShape="0" blurRad="76200" dist="25400" dir="5400000">
              <a:srgbClr val="1C1C2E">
                <a:alpha val="25000"/>
              </a:srgbClr>
            </a:outerShdw>
          </a:effectLst>
        </p:spPr>
      </p:sp>
      <p:pic>
        <p:nvPicPr>
          <p:cNvPr id="3" name="Image 0" descr="C:\Users\hahaa\AppData\Local\Temp\claude\E--AI----------2-\1c94b13d-a378-4393-a81d-5d01e1f3bae7\scratchpad\ppt\icons\bui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18" y="68945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591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600200" y="78638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 (Build)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사례에서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6309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VAPID 키 → package.json → 서버 함수 → 서비스워커 → 화면 순서로 작게 나눠 진행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단계를 할 일 목록으로 추적하며 하나씩 완료 표시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기존에 없던 회원가입 로직을 발견하고 로그인 모달을 회원가입 겸용으로 확장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269480" y="1691640"/>
            <a:ext cx="4279392" cy="3429000"/>
          </a:xfrm>
          <a:prstGeom prst="roundRect">
            <a:avLst>
              <a:gd name="adj" fmla="val 3200"/>
            </a:avLst>
          </a:prstGeom>
          <a:solidFill>
            <a:srgbClr val="1C2B4A"/>
          </a:solidFill>
          <a:ln/>
          <a:effectLst>
            <a:outerShdw sx="100000" sy="100000" kx="0" ky="0" algn="bl" rotWithShape="0" blurRad="101600" dist="38100" dir="5400000">
              <a:srgbClr val="1C1C2E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591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교훈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589520" y="242316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기능도 되돌릴 수 있는 작은 단위로 쪼개면 진행 상황을 잃지 않는다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5088636" y="6355080"/>
            <a:ext cx="146304" cy="146304"/>
          </a:xfrm>
          <a:prstGeom prst="ellipse">
            <a:avLst/>
          </a:prstGeom>
          <a:solidFill>
            <a:srgbClr val="D8D8E2"/>
          </a:solidFill>
          <a:ln/>
        </p:spPr>
      </p:sp>
      <p:sp>
        <p:nvSpPr>
          <p:cNvPr id="12" name="Shape 9"/>
          <p:cNvSpPr/>
          <p:nvPr/>
        </p:nvSpPr>
        <p:spPr>
          <a:xfrm>
            <a:off x="5399532" y="6355080"/>
            <a:ext cx="146304" cy="146304"/>
          </a:xfrm>
          <a:prstGeom prst="ellipse">
            <a:avLst/>
          </a:prstGeom>
          <a:solidFill>
            <a:srgbClr val="D8D8E2"/>
          </a:solidFill>
          <a:ln/>
        </p:spPr>
      </p:sp>
      <p:sp>
        <p:nvSpPr>
          <p:cNvPr id="13" name="Shape 10"/>
          <p:cNvSpPr/>
          <p:nvPr/>
        </p:nvSpPr>
        <p:spPr>
          <a:xfrm>
            <a:off x="5710428" y="6355080"/>
            <a:ext cx="146304" cy="146304"/>
          </a:xfrm>
          <a:prstGeom prst="ellipse">
            <a:avLst/>
          </a:prstGeom>
          <a:solidFill>
            <a:srgbClr val="D8D8E2"/>
          </a:solidFill>
          <a:ln/>
        </p:spPr>
      </p:sp>
      <p:sp>
        <p:nvSpPr>
          <p:cNvPr id="14" name="Shape 11"/>
          <p:cNvSpPr/>
          <p:nvPr/>
        </p:nvSpPr>
        <p:spPr>
          <a:xfrm>
            <a:off x="6021324" y="6355080"/>
            <a:ext cx="146304" cy="146304"/>
          </a:xfrm>
          <a:prstGeom prst="ellipse">
            <a:avLst/>
          </a:prstGeom>
          <a:solidFill>
            <a:srgbClr val="B5914C"/>
          </a:solidFill>
          <a:ln/>
        </p:spPr>
      </p:sp>
      <p:sp>
        <p:nvSpPr>
          <p:cNvPr id="15" name="Shape 12"/>
          <p:cNvSpPr/>
          <p:nvPr/>
        </p:nvSpPr>
        <p:spPr>
          <a:xfrm>
            <a:off x="6332220" y="6355080"/>
            <a:ext cx="146304" cy="146304"/>
          </a:xfrm>
          <a:prstGeom prst="ellipse">
            <a:avLst/>
          </a:prstGeom>
          <a:solidFill>
            <a:srgbClr val="D8D8E2"/>
          </a:solidFill>
          <a:ln/>
        </p:spPr>
      </p:sp>
      <p:sp>
        <p:nvSpPr>
          <p:cNvPr id="16" name="Shape 13"/>
          <p:cNvSpPr/>
          <p:nvPr/>
        </p:nvSpPr>
        <p:spPr>
          <a:xfrm>
            <a:off x="6643116" y="6355080"/>
            <a:ext cx="146304" cy="146304"/>
          </a:xfrm>
          <a:prstGeom prst="ellipse">
            <a:avLst/>
          </a:prstGeom>
          <a:solidFill>
            <a:srgbClr val="D8D8E2"/>
          </a:solidFill>
          <a:ln/>
        </p:spPr>
      </p:sp>
      <p:sp>
        <p:nvSpPr>
          <p:cNvPr id="17" name="Shape 14"/>
          <p:cNvSpPr/>
          <p:nvPr/>
        </p:nvSpPr>
        <p:spPr>
          <a:xfrm>
            <a:off x="6954012" y="6355080"/>
            <a:ext cx="146304" cy="146304"/>
          </a:xfrm>
          <a:prstGeom prst="ellipse">
            <a:avLst/>
          </a:prstGeom>
          <a:solidFill>
            <a:srgbClr val="D8D8E2"/>
          </a:solidFill>
          <a:ln/>
        </p:spPr>
      </p:sp>
      <p:sp>
        <p:nvSpPr>
          <p:cNvPr id="18" name="Text 15"/>
          <p:cNvSpPr/>
          <p:nvPr/>
        </p:nvSpPr>
        <p:spPr>
          <a:xfrm>
            <a:off x="1554480" y="6473952"/>
            <a:ext cx="9079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   ·   계획   ·   확인   ·   구현   ·   검증   ·   배포   ·   반복개선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B5914C"/>
          </a:solidFill>
          <a:ln/>
          <a:effectLst>
            <a:outerShdw sx="100000" sy="100000" kx="0" ky="0" algn="bl" rotWithShape="0" blurRad="76200" dist="25400" dir="5400000">
              <a:srgbClr val="1C1C2E">
                <a:alpha val="25000"/>
              </a:srgbClr>
            </a:outerShdw>
          </a:effectLst>
        </p:spPr>
      </p:sp>
      <p:pic>
        <p:nvPicPr>
          <p:cNvPr id="3" name="Image 0" descr="C:\Users\hahaa\AppData\Local\Temp\claude\E--AI----------2-\1c94b13d-a378-4393-a81d-5d01e1f3bae7\scratchpad\ppt\icons\verif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18" y="68945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591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600200" y="78638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 (Verify)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사례에서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6309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미리보기로 화면 동작·콘솔 에러부터 확인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후 실제 서버 호출까지 직접 확인하다가 실전 버그 2건을 발견</a:t>
            </a:r>
            <a:endParaRPr lang="en-US" sz="1350" dirty="0"/>
          </a:p>
          <a:p>
            <a:pPr lvl="1"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C1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서비스워커 캐시가 새 코드를 안 보여주던 문제</a:t>
            </a:r>
            <a:endParaRPr lang="en-US" sz="1350" dirty="0"/>
          </a:p>
          <a:p>
            <a:pPr lvl="1"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C1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서버 함수가 존재하지 않는 환경변수를 참조하던 문제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269480" y="1691640"/>
            <a:ext cx="4279392" cy="3429000"/>
          </a:xfrm>
          <a:prstGeom prst="roundRect">
            <a:avLst>
              <a:gd name="adj" fmla="val 3200"/>
            </a:avLst>
          </a:prstGeom>
          <a:solidFill>
            <a:srgbClr val="1C2B4A"/>
          </a:solidFill>
          <a:ln/>
          <a:effectLst>
            <a:outerShdw sx="100000" sy="100000" kx="0" ky="0" algn="bl" rotWithShape="0" blurRad="101600" dist="38100" dir="5400000">
              <a:srgbClr val="1C1C2E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591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교훈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589520" y="242316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"됐을 것 같다"가 아니라, 실제로 눌러보고 호출해봐야 진짜 검증이다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5088636" y="6355080"/>
            <a:ext cx="146304" cy="146304"/>
          </a:xfrm>
          <a:prstGeom prst="ellipse">
            <a:avLst/>
          </a:prstGeom>
          <a:solidFill>
            <a:srgbClr val="D8D8E2"/>
          </a:solidFill>
          <a:ln/>
        </p:spPr>
      </p:sp>
      <p:sp>
        <p:nvSpPr>
          <p:cNvPr id="12" name="Shape 9"/>
          <p:cNvSpPr/>
          <p:nvPr/>
        </p:nvSpPr>
        <p:spPr>
          <a:xfrm>
            <a:off x="5399532" y="6355080"/>
            <a:ext cx="146304" cy="146304"/>
          </a:xfrm>
          <a:prstGeom prst="ellipse">
            <a:avLst/>
          </a:prstGeom>
          <a:solidFill>
            <a:srgbClr val="D8D8E2"/>
          </a:solidFill>
          <a:ln/>
        </p:spPr>
      </p:sp>
      <p:sp>
        <p:nvSpPr>
          <p:cNvPr id="13" name="Shape 10"/>
          <p:cNvSpPr/>
          <p:nvPr/>
        </p:nvSpPr>
        <p:spPr>
          <a:xfrm>
            <a:off x="5710428" y="6355080"/>
            <a:ext cx="146304" cy="146304"/>
          </a:xfrm>
          <a:prstGeom prst="ellipse">
            <a:avLst/>
          </a:prstGeom>
          <a:solidFill>
            <a:srgbClr val="D8D8E2"/>
          </a:solidFill>
          <a:ln/>
        </p:spPr>
      </p:sp>
      <p:sp>
        <p:nvSpPr>
          <p:cNvPr id="14" name="Shape 11"/>
          <p:cNvSpPr/>
          <p:nvPr/>
        </p:nvSpPr>
        <p:spPr>
          <a:xfrm>
            <a:off x="6021324" y="6355080"/>
            <a:ext cx="146304" cy="146304"/>
          </a:xfrm>
          <a:prstGeom prst="ellipse">
            <a:avLst/>
          </a:prstGeom>
          <a:solidFill>
            <a:srgbClr val="D8D8E2"/>
          </a:solidFill>
          <a:ln/>
        </p:spPr>
      </p:sp>
      <p:sp>
        <p:nvSpPr>
          <p:cNvPr id="15" name="Shape 12"/>
          <p:cNvSpPr/>
          <p:nvPr/>
        </p:nvSpPr>
        <p:spPr>
          <a:xfrm>
            <a:off x="6332220" y="6355080"/>
            <a:ext cx="146304" cy="146304"/>
          </a:xfrm>
          <a:prstGeom prst="ellipse">
            <a:avLst/>
          </a:prstGeom>
          <a:solidFill>
            <a:srgbClr val="B5914C"/>
          </a:solidFill>
          <a:ln/>
        </p:spPr>
      </p:sp>
      <p:sp>
        <p:nvSpPr>
          <p:cNvPr id="16" name="Shape 13"/>
          <p:cNvSpPr/>
          <p:nvPr/>
        </p:nvSpPr>
        <p:spPr>
          <a:xfrm>
            <a:off x="6643116" y="6355080"/>
            <a:ext cx="146304" cy="146304"/>
          </a:xfrm>
          <a:prstGeom prst="ellipse">
            <a:avLst/>
          </a:prstGeom>
          <a:solidFill>
            <a:srgbClr val="D8D8E2"/>
          </a:solidFill>
          <a:ln/>
        </p:spPr>
      </p:sp>
      <p:sp>
        <p:nvSpPr>
          <p:cNvPr id="17" name="Shape 14"/>
          <p:cNvSpPr/>
          <p:nvPr/>
        </p:nvSpPr>
        <p:spPr>
          <a:xfrm>
            <a:off x="6954012" y="6355080"/>
            <a:ext cx="146304" cy="146304"/>
          </a:xfrm>
          <a:prstGeom prst="ellipse">
            <a:avLst/>
          </a:prstGeom>
          <a:solidFill>
            <a:srgbClr val="D8D8E2"/>
          </a:solidFill>
          <a:ln/>
        </p:spPr>
      </p:sp>
      <p:sp>
        <p:nvSpPr>
          <p:cNvPr id="18" name="Text 15"/>
          <p:cNvSpPr/>
          <p:nvPr/>
        </p:nvSpPr>
        <p:spPr>
          <a:xfrm>
            <a:off x="1554480" y="6473952"/>
            <a:ext cx="9079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   ·   계획   ·   확인   ·   구현   ·   검증   ·   배포   ·   반복개선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B5914C"/>
          </a:solidFill>
          <a:ln/>
          <a:effectLst>
            <a:outerShdw sx="100000" sy="100000" kx="0" ky="0" algn="bl" rotWithShape="0" blurRad="76200" dist="25400" dir="5400000">
              <a:srgbClr val="1C1C2E">
                <a:alpha val="25000"/>
              </a:srgbClr>
            </a:outerShdw>
          </a:effectLst>
        </p:spPr>
      </p:sp>
      <p:pic>
        <p:nvPicPr>
          <p:cNvPr id="3" name="Image 0" descr="C:\Users\hahaa\AppData\Local\Temp\claude\E--AI----------2-\1c94b13d-a378-4393-a81d-5d01e1f3bae7\scratchpad\ppt\icons\deplo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18" y="68945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591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600200" y="78638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 (Deploy)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사례에서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6309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 단위로 작은 커밋 + 한글 커밋 메시지로 변경 이력을 남김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push → Vercel 자동 배포, 필요하면 재배포를 즉시 트리거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롤 키·VAPID 비밀키는 코드나 채팅이 아니라 배포 환경변수에만 저장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269480" y="1691640"/>
            <a:ext cx="4279392" cy="3429000"/>
          </a:xfrm>
          <a:prstGeom prst="roundRect">
            <a:avLst>
              <a:gd name="adj" fmla="val 3200"/>
            </a:avLst>
          </a:prstGeom>
          <a:solidFill>
            <a:srgbClr val="1C2B4A"/>
          </a:solidFill>
          <a:ln/>
          <a:effectLst>
            <a:outerShdw sx="100000" sy="100000" kx="0" ky="0" algn="bl" rotWithShape="0" blurRad="101600" dist="38100" dir="5400000">
              <a:srgbClr val="1C1C2E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591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교훈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589520" y="242316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절차와 비밀값 관리 규칙을 미리 정해두면 매번 새로 고민하지 않는다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5088636" y="6355080"/>
            <a:ext cx="146304" cy="146304"/>
          </a:xfrm>
          <a:prstGeom prst="ellipse">
            <a:avLst/>
          </a:prstGeom>
          <a:solidFill>
            <a:srgbClr val="D8D8E2"/>
          </a:solidFill>
          <a:ln/>
        </p:spPr>
      </p:sp>
      <p:sp>
        <p:nvSpPr>
          <p:cNvPr id="12" name="Shape 9"/>
          <p:cNvSpPr/>
          <p:nvPr/>
        </p:nvSpPr>
        <p:spPr>
          <a:xfrm>
            <a:off x="5399532" y="6355080"/>
            <a:ext cx="146304" cy="146304"/>
          </a:xfrm>
          <a:prstGeom prst="ellipse">
            <a:avLst/>
          </a:prstGeom>
          <a:solidFill>
            <a:srgbClr val="D8D8E2"/>
          </a:solidFill>
          <a:ln/>
        </p:spPr>
      </p:sp>
      <p:sp>
        <p:nvSpPr>
          <p:cNvPr id="13" name="Shape 10"/>
          <p:cNvSpPr/>
          <p:nvPr/>
        </p:nvSpPr>
        <p:spPr>
          <a:xfrm>
            <a:off x="5710428" y="6355080"/>
            <a:ext cx="146304" cy="146304"/>
          </a:xfrm>
          <a:prstGeom prst="ellipse">
            <a:avLst/>
          </a:prstGeom>
          <a:solidFill>
            <a:srgbClr val="D8D8E2"/>
          </a:solidFill>
          <a:ln/>
        </p:spPr>
      </p:sp>
      <p:sp>
        <p:nvSpPr>
          <p:cNvPr id="14" name="Shape 11"/>
          <p:cNvSpPr/>
          <p:nvPr/>
        </p:nvSpPr>
        <p:spPr>
          <a:xfrm>
            <a:off x="6021324" y="6355080"/>
            <a:ext cx="146304" cy="146304"/>
          </a:xfrm>
          <a:prstGeom prst="ellipse">
            <a:avLst/>
          </a:prstGeom>
          <a:solidFill>
            <a:srgbClr val="D8D8E2"/>
          </a:solidFill>
          <a:ln/>
        </p:spPr>
      </p:sp>
      <p:sp>
        <p:nvSpPr>
          <p:cNvPr id="15" name="Shape 12"/>
          <p:cNvSpPr/>
          <p:nvPr/>
        </p:nvSpPr>
        <p:spPr>
          <a:xfrm>
            <a:off x="6332220" y="6355080"/>
            <a:ext cx="146304" cy="146304"/>
          </a:xfrm>
          <a:prstGeom prst="ellipse">
            <a:avLst/>
          </a:prstGeom>
          <a:solidFill>
            <a:srgbClr val="D8D8E2"/>
          </a:solidFill>
          <a:ln/>
        </p:spPr>
      </p:sp>
      <p:sp>
        <p:nvSpPr>
          <p:cNvPr id="16" name="Shape 13"/>
          <p:cNvSpPr/>
          <p:nvPr/>
        </p:nvSpPr>
        <p:spPr>
          <a:xfrm>
            <a:off x="6643116" y="6355080"/>
            <a:ext cx="146304" cy="146304"/>
          </a:xfrm>
          <a:prstGeom prst="ellipse">
            <a:avLst/>
          </a:prstGeom>
          <a:solidFill>
            <a:srgbClr val="B5914C"/>
          </a:solidFill>
          <a:ln/>
        </p:spPr>
      </p:sp>
      <p:sp>
        <p:nvSpPr>
          <p:cNvPr id="17" name="Shape 14"/>
          <p:cNvSpPr/>
          <p:nvPr/>
        </p:nvSpPr>
        <p:spPr>
          <a:xfrm>
            <a:off x="6954012" y="6355080"/>
            <a:ext cx="146304" cy="146304"/>
          </a:xfrm>
          <a:prstGeom prst="ellipse">
            <a:avLst/>
          </a:prstGeom>
          <a:solidFill>
            <a:srgbClr val="D8D8E2"/>
          </a:solidFill>
          <a:ln/>
        </p:spPr>
      </p:sp>
      <p:sp>
        <p:nvSpPr>
          <p:cNvPr id="18" name="Text 15"/>
          <p:cNvSpPr/>
          <p:nvPr/>
        </p:nvSpPr>
        <p:spPr>
          <a:xfrm>
            <a:off x="1554480" y="6473952"/>
            <a:ext cx="9079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   ·   계획   ·   확인   ·   구현   ·   검증   ·   배포   ·   반복개선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B5914C"/>
          </a:solidFill>
          <a:ln/>
          <a:effectLst>
            <a:outerShdw sx="100000" sy="100000" kx="0" ky="0" algn="bl" rotWithShape="0" blurRad="76200" dist="25400" dir="5400000">
              <a:srgbClr val="1C1C2E">
                <a:alpha val="25000"/>
              </a:srgbClr>
            </a:outerShdw>
          </a:effectLst>
        </p:spPr>
      </p:sp>
      <p:pic>
        <p:nvPicPr>
          <p:cNvPr id="3" name="Image 0" descr="C:\Users\hahaa\AppData\Local\Temp\claude\E--AI----------2-\1c94b13d-a378-4393-a81d-5d01e1f3bae7\scratchpad\ppt\icons\iter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18" y="68945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591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7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600200" y="78638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반복개선  (Iterate)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사례에서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6309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문구 변경 → 제목 삭제 → "글자가 잘린다"는 실사용 피드백 수신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알림 + 클릭 시 전체 문구 표시 방식으로 재설계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마지막엔 "회원 본인은 팝업, 운영자만 푸시"로 알림 대상 자체를 다시 조정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269480" y="1691640"/>
            <a:ext cx="4279392" cy="3429000"/>
          </a:xfrm>
          <a:prstGeom prst="roundRect">
            <a:avLst>
              <a:gd name="adj" fmla="val 3200"/>
            </a:avLst>
          </a:prstGeom>
          <a:solidFill>
            <a:srgbClr val="1C2B4A"/>
          </a:solidFill>
          <a:ln/>
          <a:effectLst>
            <a:outerShdw sx="100000" sy="100000" kx="0" ky="0" algn="bl" rotWithShape="0" blurRad="101600" dist="38100" dir="5400000">
              <a:srgbClr val="1C1C2E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591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교훈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589520" y="242316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설계가 최종본이 아니다 — 실사용 피드백으로 계속 다듬는 게 정상 과정이다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5088636" y="6355080"/>
            <a:ext cx="146304" cy="146304"/>
          </a:xfrm>
          <a:prstGeom prst="ellipse">
            <a:avLst/>
          </a:prstGeom>
          <a:solidFill>
            <a:srgbClr val="D8D8E2"/>
          </a:solidFill>
          <a:ln/>
        </p:spPr>
      </p:sp>
      <p:sp>
        <p:nvSpPr>
          <p:cNvPr id="12" name="Shape 9"/>
          <p:cNvSpPr/>
          <p:nvPr/>
        </p:nvSpPr>
        <p:spPr>
          <a:xfrm>
            <a:off x="5399532" y="6355080"/>
            <a:ext cx="146304" cy="146304"/>
          </a:xfrm>
          <a:prstGeom prst="ellipse">
            <a:avLst/>
          </a:prstGeom>
          <a:solidFill>
            <a:srgbClr val="D8D8E2"/>
          </a:solidFill>
          <a:ln/>
        </p:spPr>
      </p:sp>
      <p:sp>
        <p:nvSpPr>
          <p:cNvPr id="13" name="Shape 10"/>
          <p:cNvSpPr/>
          <p:nvPr/>
        </p:nvSpPr>
        <p:spPr>
          <a:xfrm>
            <a:off x="5710428" y="6355080"/>
            <a:ext cx="146304" cy="146304"/>
          </a:xfrm>
          <a:prstGeom prst="ellipse">
            <a:avLst/>
          </a:prstGeom>
          <a:solidFill>
            <a:srgbClr val="D8D8E2"/>
          </a:solidFill>
          <a:ln/>
        </p:spPr>
      </p:sp>
      <p:sp>
        <p:nvSpPr>
          <p:cNvPr id="14" name="Shape 11"/>
          <p:cNvSpPr/>
          <p:nvPr/>
        </p:nvSpPr>
        <p:spPr>
          <a:xfrm>
            <a:off x="6021324" y="6355080"/>
            <a:ext cx="146304" cy="146304"/>
          </a:xfrm>
          <a:prstGeom prst="ellipse">
            <a:avLst/>
          </a:prstGeom>
          <a:solidFill>
            <a:srgbClr val="D8D8E2"/>
          </a:solidFill>
          <a:ln/>
        </p:spPr>
      </p:sp>
      <p:sp>
        <p:nvSpPr>
          <p:cNvPr id="15" name="Shape 12"/>
          <p:cNvSpPr/>
          <p:nvPr/>
        </p:nvSpPr>
        <p:spPr>
          <a:xfrm>
            <a:off x="6332220" y="6355080"/>
            <a:ext cx="146304" cy="146304"/>
          </a:xfrm>
          <a:prstGeom prst="ellipse">
            <a:avLst/>
          </a:prstGeom>
          <a:solidFill>
            <a:srgbClr val="D8D8E2"/>
          </a:solidFill>
          <a:ln/>
        </p:spPr>
      </p:sp>
      <p:sp>
        <p:nvSpPr>
          <p:cNvPr id="16" name="Shape 13"/>
          <p:cNvSpPr/>
          <p:nvPr/>
        </p:nvSpPr>
        <p:spPr>
          <a:xfrm>
            <a:off x="6643116" y="6355080"/>
            <a:ext cx="146304" cy="146304"/>
          </a:xfrm>
          <a:prstGeom prst="ellipse">
            <a:avLst/>
          </a:prstGeom>
          <a:solidFill>
            <a:srgbClr val="D8D8E2"/>
          </a:solidFill>
          <a:ln/>
        </p:spPr>
      </p:sp>
      <p:sp>
        <p:nvSpPr>
          <p:cNvPr id="17" name="Shape 14"/>
          <p:cNvSpPr/>
          <p:nvPr/>
        </p:nvSpPr>
        <p:spPr>
          <a:xfrm>
            <a:off x="6954012" y="6355080"/>
            <a:ext cx="146304" cy="146304"/>
          </a:xfrm>
          <a:prstGeom prst="ellipse">
            <a:avLst/>
          </a:prstGeom>
          <a:solidFill>
            <a:srgbClr val="B5914C"/>
          </a:solidFill>
          <a:ln/>
        </p:spPr>
      </p:sp>
      <p:sp>
        <p:nvSpPr>
          <p:cNvPr id="18" name="Text 15"/>
          <p:cNvSpPr/>
          <p:nvPr/>
        </p:nvSpPr>
        <p:spPr>
          <a:xfrm>
            <a:off x="1554480" y="6473952"/>
            <a:ext cx="9079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   ·   계획   ·   확인   ·   구현   ·   검증   ·   배포   ·   반복개선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실제로는 이렇게 흘러갔다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4241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7단계가 한 번만 도는 게 아니라, 세션 내내 여러 번 반복되며 점점 다듬어졌다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0120" y="1828800"/>
            <a:ext cx="0" cy="3840480"/>
          </a:xfrm>
          <a:prstGeom prst="line">
            <a:avLst/>
          </a:prstGeom>
          <a:noFill/>
          <a:ln w="19050">
            <a:solidFill>
              <a:srgbClr val="D8D8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91640"/>
            <a:ext cx="274320" cy="274320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16184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 작성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161848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코드베이스 탐색 → 아키텍처 문서화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2240280"/>
            <a:ext cx="274320" cy="274320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240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17320" y="216712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PWA 기능 추가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216712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설치형 앱으로 전환 (manifest·서비스워커·아이콘)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2788920"/>
            <a:ext cx="274320" cy="274320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788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17320" y="271576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파비콘 통일 작업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271576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중 서비스워커 캐시 버그 발견 · 즉시 수정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3337560"/>
            <a:ext cx="274320" cy="274320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337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17320" y="32644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푸시 알림 요청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326440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Mode로 전체 설계 → 승인 받고 시작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" y="3886200"/>
            <a:ext cx="274320" cy="274320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886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17320" y="38130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서버·DB·화면 구현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381304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중 환경변수 누락 버그 발견 · 즉시 수정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2960" y="4434840"/>
            <a:ext cx="274320" cy="274320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434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417320" y="43616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문구 다듬기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436168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실사용 관점 피드백을 반영해 문구·제목 조정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22960" y="4983480"/>
            <a:ext cx="274320" cy="274320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4983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417320" y="491032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"글자가 잘린다" 이슈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46320" y="491032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알림 + 클릭 시 전체보기 팝업으로 재설계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22960" y="5532120"/>
            <a:ext cx="274320" cy="274320"/>
          </a:xfrm>
          <a:prstGeom prst="ellipse">
            <a:avLst/>
          </a:prstGeom>
          <a:solidFill>
            <a:srgbClr val="B5914C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5532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417320" y="545896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대상 재조정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46320" y="545896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본인은 팝업, 운영자만 푸시로 최종 정리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다음에 비슷한 작업을 할 때, 스스로에게 물어볼 것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7단계를 매번 다 밟을 필요는 없다 — 대신 이 네 가지 질문만 잊지 않으면 된다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38928" cy="1783080"/>
          </a:xfrm>
          <a:prstGeom prst="roundRect">
            <a:avLst>
              <a:gd name="adj" fmla="val 5128"/>
            </a:avLst>
          </a:prstGeom>
          <a:solidFill>
            <a:srgbClr val="EBF0F9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0312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1C2E">
                <a:alpha val="25000"/>
              </a:srgbClr>
            </a:outerShdw>
          </a:effectLst>
        </p:spPr>
      </p:sp>
      <p:pic>
        <p:nvPicPr>
          <p:cNvPr id="6" name="Image 0" descr="C:\Users\hahaa\AppData\Local\Temp\claude\E--AI----------2-\1c94b13d-a378-4393-a81d-5d01e1f3bae7\scratchpad\ppt\icons\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642" y="2207362"/>
            <a:ext cx="340157" cy="34015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29968"/>
            <a:ext cx="3813048" cy="1380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결정, 내가 정할 수 있나 아니면 사용자에게 물어야 하나?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144768" y="1828800"/>
            <a:ext cx="5138928" cy="1783080"/>
          </a:xfrm>
          <a:prstGeom prst="roundRect">
            <a:avLst>
              <a:gd name="adj" fmla="val 5128"/>
            </a:avLst>
          </a:prstGeom>
          <a:solidFill>
            <a:srgbClr val="EBF0F9"/>
          </a:solidFill>
          <a:ln/>
        </p:spPr>
      </p:sp>
      <p:sp>
        <p:nvSpPr>
          <p:cNvPr id="9" name="Shape 6"/>
          <p:cNvSpPr/>
          <p:nvPr/>
        </p:nvSpPr>
        <p:spPr>
          <a:xfrm>
            <a:off x="6419088" y="210312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1C2E">
                <a:alpha val="25000"/>
              </a:srgbClr>
            </a:outerShdw>
          </a:effectLst>
        </p:spPr>
      </p:sp>
      <p:pic>
        <p:nvPicPr>
          <p:cNvPr id="10" name="Image 1" descr="C:\Users\hahaa\AppData\Local\Temp\claude\E--AI----------2-\1c94b13d-a378-4393-a81d-5d01e1f3bae7\scratchpad\ppt\icons\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330" y="2207362"/>
            <a:ext cx="340157" cy="3401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96328" y="2029968"/>
            <a:ext cx="3813048" cy="1380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배포·적용 전에 실제로 눌러보거나 호출해서 확인했나?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40080" y="3931920"/>
            <a:ext cx="5138928" cy="1783080"/>
          </a:xfrm>
          <a:prstGeom prst="roundRect">
            <a:avLst>
              <a:gd name="adj" fmla="val 5128"/>
            </a:avLst>
          </a:prstGeom>
          <a:solidFill>
            <a:srgbClr val="EBF0F9"/>
          </a:solidFill>
          <a:ln/>
        </p:spPr>
      </p:sp>
      <p:sp>
        <p:nvSpPr>
          <p:cNvPr id="13" name="Shape 9"/>
          <p:cNvSpPr/>
          <p:nvPr/>
        </p:nvSpPr>
        <p:spPr>
          <a:xfrm>
            <a:off x="914400" y="420624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1C2E">
                <a:alpha val="25000"/>
              </a:srgbClr>
            </a:outerShdw>
          </a:effectLst>
        </p:spPr>
      </p:sp>
      <p:pic>
        <p:nvPicPr>
          <p:cNvPr id="14" name="Image 2" descr="C:\Users\hahaa\AppData\Local\Temp\claude\E--AI----------2-\1c94b13d-a378-4393-a81d-5d01e1f3bae7\scratchpad\ppt\icons\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42" y="4310482"/>
            <a:ext cx="340157" cy="34015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4133088"/>
            <a:ext cx="3813048" cy="1380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비밀값(키·비밀번호)이 코드나 채팅에 그대로 남아있지 않은가?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144768" y="3931920"/>
            <a:ext cx="5138928" cy="1783080"/>
          </a:xfrm>
          <a:prstGeom prst="roundRect">
            <a:avLst>
              <a:gd name="adj" fmla="val 5128"/>
            </a:avLst>
          </a:prstGeom>
          <a:solidFill>
            <a:srgbClr val="EBF0F9"/>
          </a:solidFill>
          <a:ln/>
        </p:spPr>
      </p:sp>
      <p:sp>
        <p:nvSpPr>
          <p:cNvPr id="17" name="Shape 12"/>
          <p:cNvSpPr/>
          <p:nvPr/>
        </p:nvSpPr>
        <p:spPr>
          <a:xfrm>
            <a:off x="6419088" y="420624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1C2E">
                <a:alpha val="25000"/>
              </a:srgbClr>
            </a:outerShdw>
          </a:effectLst>
        </p:spPr>
      </p:sp>
      <p:pic>
        <p:nvPicPr>
          <p:cNvPr id="18" name="Image 3" descr="C:\Users\hahaa\AppData\Local\Temp\claude\E--AI----------2-\1c94b13d-a378-4393-a81d-5d01e1f3bae7\scratchpad\ppt\icons\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330" y="4310482"/>
            <a:ext cx="340157" cy="34015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96328" y="4133088"/>
            <a:ext cx="3813048" cy="1380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 안 되면 어디까지, 어떻게 되돌릴 수 있는지 알고 있는가?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474720"/>
            <a:ext cx="5486400" cy="5486400"/>
          </a:xfrm>
          <a:prstGeom prst="ellipse">
            <a:avLst/>
          </a:prstGeom>
          <a:solidFill>
            <a:srgbClr val="2A3D6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92024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FE0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완벽한 한 번의 정답보다,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25146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작게 시도하고 </a:t>
            </a:r>
            <a:pPr indent="0" marL="0">
              <a:buNone/>
            </a:pPr>
            <a:r>
              <a:rPr lang="en-US" sz="3000" b="1" dirty="0">
                <a:solidFill>
                  <a:srgbClr val="B591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확인</a:t>
            </a:r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하며 </a:t>
            </a:r>
            <a:pPr indent="0" marL="0">
              <a:buNone/>
            </a:pPr>
            <a:r>
              <a:rPr lang="en-US" sz="3000" b="1" dirty="0">
                <a:solidFill>
                  <a:srgbClr val="B591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다듬는 과정</a:t>
            </a:r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FE0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만든다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4480560"/>
            <a:ext cx="1975104" cy="548640"/>
          </a:xfrm>
          <a:prstGeom prst="roundRect">
            <a:avLst>
              <a:gd name="adj" fmla="val 50000"/>
            </a:avLst>
          </a:prstGeom>
          <a:solidFill>
            <a:srgbClr val="2A3D66"/>
          </a:solidFill>
          <a:ln w="12700">
            <a:solidFill>
              <a:srgbClr val="B591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480560"/>
            <a:ext cx="1975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591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작게 쪼개기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63824" y="4480560"/>
            <a:ext cx="2189988" cy="548640"/>
          </a:xfrm>
          <a:prstGeom prst="roundRect">
            <a:avLst>
              <a:gd name="adj" fmla="val 50000"/>
            </a:avLst>
          </a:prstGeom>
          <a:solidFill>
            <a:srgbClr val="2A3D66"/>
          </a:solidFill>
          <a:ln w="12700">
            <a:solidFill>
              <a:srgbClr val="B591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63824" y="4480560"/>
            <a:ext cx="21899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591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확인하기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28132" y="4480560"/>
            <a:ext cx="2619756" cy="548640"/>
          </a:xfrm>
          <a:prstGeom prst="roundRect">
            <a:avLst>
              <a:gd name="adj" fmla="val 50000"/>
            </a:avLst>
          </a:prstGeom>
          <a:solidFill>
            <a:srgbClr val="2A3D66"/>
          </a:solidFill>
          <a:ln w="12700">
            <a:solidFill>
              <a:srgbClr val="B591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28132" y="4480560"/>
            <a:ext cx="26197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591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필요하면 질문하기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6263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'만조' 웹사이트 개발 세션 복기  ·  Claude Code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2026-07-12T01:28:56Z</dcterms:created>
  <dcterms:modified xsi:type="dcterms:W3CDTF">2026-07-12T01:28:56Z</dcterms:modified>
</cp:coreProperties>
</file>